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IBM Plex Sans Bold" charset="1" panose="020B0803050203000203"/>
      <p:regular r:id="rId16"/>
    </p:embeddedFont>
    <p:embeddedFont>
      <p:font typeface="IBM Plex Sans" charset="1" panose="020B0503050203000203"/>
      <p:regular r:id="rId17"/>
    </p:embeddedFont>
    <p:embeddedFont>
      <p:font typeface="Roboto" charset="1" panose="02000000000000000000"/>
      <p:regular r:id="rId18"/>
    </p:embeddedFont>
    <p:embeddedFont>
      <p:font typeface="Roboto Bold" charset="1" panose="02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slide2.xml" Type="http://schemas.openxmlformats.org/officeDocument/2006/relationships/slid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7.png" Type="http://schemas.openxmlformats.org/officeDocument/2006/relationships/image"/><Relationship Id="rId6" Target="../media/image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1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svg" Type="http://schemas.openxmlformats.org/officeDocument/2006/relationships/image"/><Relationship Id="rId4" Target="../media/image14.jpe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855796" y="1176337"/>
            <a:ext cx="2689779" cy="323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520"/>
              </a:lnSpc>
              <a:spcBef>
                <a:spcPct val="0"/>
              </a:spcBef>
            </a:pP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1500188"/>
            <a:ext cx="15796844" cy="5463320"/>
            <a:chOff x="0" y="0"/>
            <a:chExt cx="21062459" cy="728442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6447921"/>
              <a:ext cx="21062459" cy="83650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320"/>
                </a:lnSpc>
              </a:pP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09517"/>
              <a:ext cx="21062459" cy="584759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11227"/>
                </a:lnSpc>
              </a:pPr>
              <a:r>
                <a:rPr lang="en-US" sz="11227" b="true">
                  <a:solidFill>
                    <a:srgbClr val="000000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</a:rPr>
                <a:t>Job Resume–Job Description Matching</a:t>
              </a:r>
            </a:p>
            <a:p>
              <a:pPr algn="ctr">
                <a:lnSpc>
                  <a:spcPts val="11227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-2827211">
            <a:off x="14295600" y="-2005524"/>
            <a:ext cx="7984799" cy="6068448"/>
          </a:xfrm>
          <a:custGeom>
            <a:avLst/>
            <a:gdLst/>
            <a:ahLst/>
            <a:cxnLst/>
            <a:rect r="r" b="b" t="t" l="l"/>
            <a:pathLst>
              <a:path h="6068448" w="7984799">
                <a:moveTo>
                  <a:pt x="0" y="0"/>
                </a:moveTo>
                <a:lnTo>
                  <a:pt x="7984800" y="0"/>
                </a:lnTo>
                <a:lnTo>
                  <a:pt x="7984800" y="6068448"/>
                </a:lnTo>
                <a:lnTo>
                  <a:pt x="0" y="606844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21052" y="5114925"/>
            <a:ext cx="11412141" cy="5295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89"/>
              </a:lnSpc>
              <a:spcBef>
                <a:spcPct val="0"/>
              </a:spcBef>
            </a:pP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P</a:t>
            </a:r>
            <a:r>
              <a:rPr lang="en-US" sz="329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redict whether a resume is a good fit for a given job posting.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7543800"/>
            <a:ext cx="11142800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523"/>
              </a:lnSpc>
            </a:pPr>
            <a:r>
              <a:rPr lang="en-US" sz="3769" b="true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Name :                               </a:t>
            </a:r>
          </a:p>
          <a:p>
            <a:pPr algn="l">
              <a:lnSpc>
                <a:spcPts val="4523"/>
              </a:lnSpc>
            </a:pPr>
            <a:r>
              <a:rPr lang="en-US" sz="376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M Niranjan     - PES2UG23CS308</a:t>
            </a:r>
          </a:p>
          <a:p>
            <a:pPr algn="l">
              <a:lnSpc>
                <a:spcPts val="4523"/>
              </a:lnSpc>
              <a:spcBef>
                <a:spcPct val="0"/>
              </a:spcBef>
            </a:pPr>
            <a:r>
              <a:rPr lang="en-US" sz="376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             </a:t>
            </a:r>
            <a:r>
              <a:rPr lang="en-US" sz="3769">
                <a:solidFill>
                  <a:srgbClr val="000000"/>
                </a:solidFill>
                <a:latin typeface="IBM Plex Sans"/>
                <a:ea typeface="IBM Plex Sans"/>
                <a:cs typeface="IBM Plex Sans"/>
                <a:sym typeface="IBM Plex Sans"/>
              </a:rPr>
              <a:t>Keerthan P V - PES2UG23CS272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-1904249">
            <a:off x="10327476" y="6959861"/>
            <a:ext cx="7594166" cy="5771566"/>
          </a:xfrm>
          <a:custGeom>
            <a:avLst/>
            <a:gdLst/>
            <a:ahLst/>
            <a:cxnLst/>
            <a:rect r="r" b="b" t="t" l="l"/>
            <a:pathLst>
              <a:path h="5771566" w="7594166">
                <a:moveTo>
                  <a:pt x="0" y="0"/>
                </a:moveTo>
                <a:lnTo>
                  <a:pt x="7594165" y="0"/>
                </a:lnTo>
                <a:lnTo>
                  <a:pt x="7594165" y="5771566"/>
                </a:lnTo>
                <a:lnTo>
                  <a:pt x="0" y="577156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9600F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80654" y="1277605"/>
            <a:ext cx="679629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Objectives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94" y="2563480"/>
            <a:ext cx="14065931" cy="2752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662"/>
              </a:lnSpc>
            </a:pPr>
          </a:p>
          <a:p>
            <a:pPr algn="l">
              <a:lnSpc>
                <a:spcPts val="3662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Automate resume–JD evaluati</a:t>
            </a: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 using NLP and ML to:</a:t>
            </a:r>
          </a:p>
          <a:p>
            <a:pPr algn="l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Classify resumes by category (e.g., Good ,moderate,bad).</a:t>
            </a:r>
          </a:p>
          <a:p>
            <a:pPr algn="l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Measure semantic similarity and keyword overlap with job descriptions.</a:t>
            </a:r>
          </a:p>
          <a:p>
            <a:pPr algn="l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Generate match scores and insights.</a:t>
            </a:r>
          </a:p>
          <a:p>
            <a:pPr algn="l">
              <a:lnSpc>
                <a:spcPts val="366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8394" y="6476837"/>
            <a:ext cx="9564767" cy="2447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 Reduce recruiter effort by automating: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Resume classification and JD–resume matching.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Explainable scoring and keyword visualization.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0654" y="5262562"/>
            <a:ext cx="6796295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Motivation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System Architecture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07523" y="1806526"/>
            <a:ext cx="17088690" cy="82772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840"/>
              </a:lnSpc>
            </a:pPr>
            <a:r>
              <a:rPr lang="en-US" sz="32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C</a:t>
            </a:r>
            <a:r>
              <a:rPr lang="en-US" sz="3200" b="true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omponents:</a:t>
            </a:r>
          </a:p>
          <a:p>
            <a:pPr algn="just" marL="690881" indent="-345440" lvl="1">
              <a:lnSpc>
                <a:spcPts val="3840"/>
              </a:lnSpc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Resume Parsing: PDF extraction via PyPDF2.</a:t>
            </a:r>
          </a:p>
          <a:p>
            <a:pPr algn="just" marL="690881" indent="-345440" lvl="1">
              <a:lnSpc>
                <a:spcPts val="384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Text Preprocessing: Cleaning, lemmatizati</a:t>
            </a: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on, removing stopwords &amp; generic terms.</a:t>
            </a:r>
          </a:p>
          <a:p>
            <a:pPr algn="just" marL="690881" indent="-345440" lvl="1">
              <a:lnSpc>
                <a:spcPts val="384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Embedding &amp; Feature Engineering: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Sentence Transformer embeddings (MiniLM)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TF-IDF &amp; Count Vectorizer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Combined for ML classifier.</a:t>
            </a:r>
          </a:p>
          <a:p>
            <a:pPr algn="just" marL="690881" indent="-345440" lvl="1">
              <a:lnSpc>
                <a:spcPts val="384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Resume Classification: Random Forest classifier predicts category.</a:t>
            </a:r>
          </a:p>
          <a:p>
            <a:pPr algn="just" marL="690881" indent="-345440" lvl="1">
              <a:lnSpc>
                <a:spcPts val="3840"/>
              </a:lnSpc>
              <a:spcBef>
                <a:spcPct val="0"/>
              </a:spcBef>
              <a:buAutoNum type="arabicPeriod" startAt="1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</a:t>
            </a: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esume–JD Matching: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Cosine similarity of embeddings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Keyword overlap &amp; coverage score</a:t>
            </a:r>
          </a:p>
          <a:p>
            <a:pPr algn="just" marL="1381761" indent="-460587" lvl="2">
              <a:lnSpc>
                <a:spcPts val="3840"/>
              </a:lnSpc>
              <a:spcBef>
                <a:spcPct val="0"/>
              </a:spcBef>
              <a:buFont typeface="Arial"/>
              <a:buChar char="⚬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Composite match score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</a:p>
          <a:p>
            <a:pPr algn="just">
              <a:lnSpc>
                <a:spcPts val="3840"/>
              </a:lnSpc>
              <a:spcBef>
                <a:spcPct val="0"/>
              </a:spcBef>
            </a:pPr>
            <a:r>
              <a:rPr lang="en-US" b="true" sz="3200">
                <a:solidFill>
                  <a:srgbClr val="000000"/>
                </a:solidFill>
                <a:latin typeface="Roboto Bold"/>
                <a:ea typeface="Roboto Bold"/>
                <a:cs typeface="Roboto Bold"/>
                <a:sym typeface="Roboto Bold"/>
              </a:rPr>
              <a:t>Visuals:</a:t>
            </a:r>
          </a:p>
          <a:p>
            <a:pPr algn="just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Flow diagram with arrows: PDF → Preprocessing → Embeddings → Classifier → Match Analysis.</a:t>
            </a:r>
          </a:p>
          <a:p>
            <a:pPr algn="just">
              <a:lnSpc>
                <a:spcPts val="3840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4F4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>
            <a:off x="0" y="10104444"/>
            <a:ext cx="18288000" cy="182556"/>
          </a:xfrm>
          <a:prstGeom prst="rect">
            <a:avLst/>
          </a:prstGeom>
          <a:solidFill>
            <a:srgbClr val="9600F2"/>
          </a:solidFill>
        </p:spPr>
      </p:sp>
      <p:sp>
        <p:nvSpPr>
          <p:cNvPr name="TextBox 3" id="3"/>
          <p:cNvSpPr txBox="true"/>
          <p:nvPr/>
        </p:nvSpPr>
        <p:spPr>
          <a:xfrm rot="0">
            <a:off x="480654" y="602911"/>
            <a:ext cx="10332624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Classification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8394" y="2044530"/>
            <a:ext cx="14065931" cy="2295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662"/>
              </a:lnSpc>
              <a:spcBef>
                <a:spcPct val="0"/>
              </a:spcBef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Rand</a:t>
            </a: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omForest</a:t>
            </a: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Classifier with:</a:t>
            </a:r>
          </a:p>
          <a:p>
            <a:pPr algn="just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n_estimators=300, max_depth=20</a:t>
            </a:r>
          </a:p>
          <a:p>
            <a:pPr algn="just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</a:t>
            </a: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alanced class weights</a:t>
            </a:r>
          </a:p>
          <a:p>
            <a:pPr algn="just" marL="659020" indent="-329510" lvl="1">
              <a:lnSpc>
                <a:spcPts val="3662"/>
              </a:lnSpc>
              <a:spcBef>
                <a:spcPct val="0"/>
              </a:spcBef>
              <a:buFont typeface="Arial"/>
              <a:buChar char="•"/>
            </a:pPr>
            <a:r>
              <a:rPr lang="en-US" sz="3052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Combined embeddings + TF-IDF + Count features</a:t>
            </a:r>
          </a:p>
          <a:p>
            <a:pPr algn="just">
              <a:lnSpc>
                <a:spcPts val="3662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658394" y="5465884"/>
            <a:ext cx="7168039" cy="487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F</a:t>
            </a: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rameworks: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Streamlit (Web UI)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PyTorch (Model fine-tuning)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scikit-learn (Classification, metrics)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Libraries: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Sentence Transformers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NLTK (Text preprocessing)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PyPDF2 (Resume te</a:t>
            </a: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xt extraction)</a:t>
            </a:r>
          </a:p>
          <a:p>
            <a:pPr algn="l" marL="690881" indent="-345440" lvl="1">
              <a:lnSpc>
                <a:spcPts val="3840"/>
              </a:lnSpc>
              <a:spcBef>
                <a:spcPct val="0"/>
              </a:spcBef>
              <a:buFont typeface="Arial"/>
              <a:buChar char="•"/>
            </a:pPr>
            <a:r>
              <a:rPr lang="en-US" sz="3200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Matplotlib &amp; Seaborn (Visualization)</a:t>
            </a:r>
          </a:p>
          <a:p>
            <a:pPr algn="l">
              <a:lnSpc>
                <a:spcPts val="3840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480654" y="3980309"/>
            <a:ext cx="866334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Technical Stack</a:t>
            </a:r>
          </a:p>
        </p:txBody>
      </p:sp>
      <p:sp>
        <p:nvSpPr>
          <p:cNvPr name="Freeform 7" id="7"/>
          <p:cNvSpPr/>
          <p:nvPr/>
        </p:nvSpPr>
        <p:spPr>
          <a:xfrm flipH="true" flipV="false" rot="0">
            <a:off x="6784728" y="602911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8774301"/>
            <a:ext cx="3134142" cy="483999"/>
            <a:chOff x="0" y="0"/>
            <a:chExt cx="4178856" cy="645332"/>
          </a:xfrm>
        </p:grpSpPr>
        <p:sp>
          <p:nvSpPr>
            <p:cNvPr name="AutoShape 3" id="3"/>
            <p:cNvSpPr/>
            <p:nvPr/>
          </p:nvSpPr>
          <p:spPr>
            <a:xfrm rot="0">
              <a:off x="0" y="0"/>
              <a:ext cx="4178856" cy="645332"/>
            </a:xfrm>
            <a:prstGeom prst="rect">
              <a:avLst/>
            </a:prstGeom>
            <a:solidFill>
              <a:srgbClr val="9600F2"/>
            </a:solidFill>
          </p:spPr>
        </p:sp>
        <p:sp>
          <p:nvSpPr>
            <p:cNvPr name="TextBox 4" id="4"/>
            <p:cNvSpPr txBox="true"/>
            <p:nvPr/>
          </p:nvSpPr>
          <p:spPr>
            <a:xfrm rot="0">
              <a:off x="291683" y="126018"/>
              <a:ext cx="3716088" cy="3647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380"/>
                </a:lnSpc>
                <a:spcBef>
                  <a:spcPct val="0"/>
                </a:spcBef>
              </a:pPr>
              <a:r>
                <a:rPr lang="en-US" b="true" sz="1700">
                  <a:solidFill>
                    <a:srgbClr val="FFFFFF"/>
                  </a:solidFill>
                  <a:latin typeface="IBM Plex Sans Bold"/>
                  <a:ea typeface="IBM Plex Sans Bold"/>
                  <a:cs typeface="IBM Plex Sans Bold"/>
                  <a:sym typeface="IBM Plex Sans Bold"/>
                  <a:hlinkClick r:id="rId2" action="ppaction://hlinksldjump"/>
                </a:rPr>
                <a:t>BACK TO AGENDA PAGE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254740" y="1676400"/>
            <a:ext cx="17778521" cy="3817474"/>
          </a:xfrm>
          <a:custGeom>
            <a:avLst/>
            <a:gdLst/>
            <a:ahLst/>
            <a:cxnLst/>
            <a:rect r="r" b="b" t="t" l="l"/>
            <a:pathLst>
              <a:path h="3817474" w="17778521">
                <a:moveTo>
                  <a:pt x="0" y="0"/>
                </a:moveTo>
                <a:lnTo>
                  <a:pt x="17778520" y="0"/>
                </a:lnTo>
                <a:lnTo>
                  <a:pt x="17778520" y="3817474"/>
                </a:lnTo>
                <a:lnTo>
                  <a:pt x="0" y="381747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357346" y="5954663"/>
            <a:ext cx="9164752" cy="4069423"/>
          </a:xfrm>
          <a:custGeom>
            <a:avLst/>
            <a:gdLst/>
            <a:ahLst/>
            <a:cxnLst/>
            <a:rect r="r" b="b" t="t" l="l"/>
            <a:pathLst>
              <a:path h="4069423" w="9164752">
                <a:moveTo>
                  <a:pt x="0" y="0"/>
                </a:moveTo>
                <a:lnTo>
                  <a:pt x="9164752" y="0"/>
                </a:lnTo>
                <a:lnTo>
                  <a:pt x="9164752" y="4069423"/>
                </a:lnTo>
                <a:lnTo>
                  <a:pt x="0" y="406942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Metrics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47462" y="8861670"/>
            <a:ext cx="2787066" cy="280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b="true" sz="1700">
                <a:solidFill>
                  <a:srgbClr val="FFFFFF"/>
                </a:solidFill>
                <a:latin typeface="IBM Plex Sans Bold"/>
                <a:ea typeface="IBM Plex Sans Bold"/>
                <a:cs typeface="IBM Plex Sans Bold"/>
                <a:sym typeface="IBM Plex Sans Bold"/>
                <a:hlinkClick r:id="rId2" action="ppaction://hlinksldjump"/>
              </a:rPr>
              <a:t>BACK TO AGENDA PAGE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3132072" y="5954663"/>
            <a:ext cx="16260828" cy="10022583"/>
          </a:xfrm>
          <a:custGeom>
            <a:avLst/>
            <a:gdLst/>
            <a:ahLst/>
            <a:cxnLst/>
            <a:rect r="r" b="b" t="t" l="l"/>
            <a:pathLst>
              <a:path h="10022583" w="16260828">
                <a:moveTo>
                  <a:pt x="16260828" y="0"/>
                </a:moveTo>
                <a:lnTo>
                  <a:pt x="0" y="0"/>
                </a:lnTo>
                <a:lnTo>
                  <a:pt x="0" y="10022583"/>
                </a:lnTo>
                <a:lnTo>
                  <a:pt x="16260828" y="10022583"/>
                </a:lnTo>
                <a:lnTo>
                  <a:pt x="16260828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407523" y="1895256"/>
            <a:ext cx="11594120" cy="4844752"/>
          </a:xfrm>
          <a:custGeom>
            <a:avLst/>
            <a:gdLst/>
            <a:ahLst/>
            <a:cxnLst/>
            <a:rect r="r" b="b" t="t" l="l"/>
            <a:pathLst>
              <a:path h="4844752" w="11594120">
                <a:moveTo>
                  <a:pt x="0" y="0"/>
                </a:moveTo>
                <a:lnTo>
                  <a:pt x="11594120" y="0"/>
                </a:lnTo>
                <a:lnTo>
                  <a:pt x="11594120" y="4844752"/>
                </a:lnTo>
                <a:lnTo>
                  <a:pt x="0" y="484475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07523" y="7377333"/>
            <a:ext cx="11594120" cy="1615995"/>
          </a:xfrm>
          <a:custGeom>
            <a:avLst/>
            <a:gdLst/>
            <a:ahLst/>
            <a:cxnLst/>
            <a:rect r="r" b="b" t="t" l="l"/>
            <a:pathLst>
              <a:path h="1615995" w="11594120">
                <a:moveTo>
                  <a:pt x="0" y="0"/>
                </a:moveTo>
                <a:lnTo>
                  <a:pt x="11594120" y="0"/>
                </a:lnTo>
                <a:lnTo>
                  <a:pt x="11594120" y="1615994"/>
                </a:lnTo>
                <a:lnTo>
                  <a:pt x="0" y="161599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Metrics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424083">
            <a:off x="-3396491" y="7879785"/>
            <a:ext cx="7875446" cy="5741916"/>
          </a:xfrm>
          <a:custGeom>
            <a:avLst/>
            <a:gdLst/>
            <a:ahLst/>
            <a:cxnLst/>
            <a:rect r="r" b="b" t="t" l="l"/>
            <a:pathLst>
              <a:path h="5741916" w="7875446">
                <a:moveTo>
                  <a:pt x="0" y="0"/>
                </a:moveTo>
                <a:lnTo>
                  <a:pt x="7875446" y="0"/>
                </a:lnTo>
                <a:lnTo>
                  <a:pt x="7875446" y="5741917"/>
                </a:lnTo>
                <a:lnTo>
                  <a:pt x="0" y="57419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541232" y="2638286"/>
            <a:ext cx="6892332" cy="5936758"/>
          </a:xfrm>
          <a:custGeom>
            <a:avLst/>
            <a:gdLst/>
            <a:ahLst/>
            <a:cxnLst/>
            <a:rect r="r" b="b" t="t" l="l"/>
            <a:pathLst>
              <a:path h="5936758" w="6892332">
                <a:moveTo>
                  <a:pt x="0" y="0"/>
                </a:moveTo>
                <a:lnTo>
                  <a:pt x="6892331" y="0"/>
                </a:lnTo>
                <a:lnTo>
                  <a:pt x="6892331" y="5936758"/>
                </a:lnTo>
                <a:lnTo>
                  <a:pt x="0" y="593675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0031712" y="2638286"/>
            <a:ext cx="5197352" cy="6356958"/>
          </a:xfrm>
          <a:custGeom>
            <a:avLst/>
            <a:gdLst/>
            <a:ahLst/>
            <a:cxnLst/>
            <a:rect r="r" b="b" t="t" l="l"/>
            <a:pathLst>
              <a:path h="6356958" w="5197352">
                <a:moveTo>
                  <a:pt x="0" y="0"/>
                </a:moveTo>
                <a:lnTo>
                  <a:pt x="5197352" y="0"/>
                </a:lnTo>
                <a:lnTo>
                  <a:pt x="5197352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235" r="0" b="-235"/>
            </a:stretch>
          </a:blipFill>
          <a:ln w="47625" cap="sq">
            <a:solidFill>
              <a:srgbClr val="000000"/>
            </a:solidFill>
            <a:prstDash val="solid"/>
            <a:miter/>
          </a:ln>
        </p:spPr>
      </p:sp>
      <p:sp>
        <p:nvSpPr>
          <p:cNvPr name="TextBox 5" id="5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Classification report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3945781">
            <a:off x="13753354" y="-3730318"/>
            <a:ext cx="11277931" cy="8222637"/>
          </a:xfrm>
          <a:custGeom>
            <a:avLst/>
            <a:gdLst/>
            <a:ahLst/>
            <a:cxnLst/>
            <a:rect r="r" b="b" t="t" l="l"/>
            <a:pathLst>
              <a:path h="8222637" w="11277931">
                <a:moveTo>
                  <a:pt x="0" y="0"/>
                </a:moveTo>
                <a:lnTo>
                  <a:pt x="11277931" y="0"/>
                </a:lnTo>
                <a:lnTo>
                  <a:pt x="11277931" y="8222636"/>
                </a:lnTo>
                <a:lnTo>
                  <a:pt x="0" y="82226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7953" y="-3715579"/>
            <a:ext cx="11277931" cy="8222637"/>
          </a:xfrm>
          <a:custGeom>
            <a:avLst/>
            <a:gdLst/>
            <a:ahLst/>
            <a:cxnLst/>
            <a:rect r="r" b="b" t="t" l="l"/>
            <a:pathLst>
              <a:path h="8222637" w="11277931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763136" y="2476590"/>
            <a:ext cx="16188950" cy="6313690"/>
          </a:xfrm>
          <a:custGeom>
            <a:avLst/>
            <a:gdLst/>
            <a:ahLst/>
            <a:cxnLst/>
            <a:rect r="r" b="b" t="t" l="l"/>
            <a:pathLst>
              <a:path h="6313690" w="16188950">
                <a:moveTo>
                  <a:pt x="0" y="0"/>
                </a:moveTo>
                <a:lnTo>
                  <a:pt x="16188950" y="0"/>
                </a:lnTo>
                <a:lnTo>
                  <a:pt x="16188950" y="6313690"/>
                </a:lnTo>
                <a:lnTo>
                  <a:pt x="0" y="63136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UI Screenshots: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57953" y="-3715579"/>
            <a:ext cx="11277931" cy="8222637"/>
          </a:xfrm>
          <a:custGeom>
            <a:avLst/>
            <a:gdLst/>
            <a:ahLst/>
            <a:cxnLst/>
            <a:rect r="r" b="b" t="t" l="l"/>
            <a:pathLst>
              <a:path h="8222637" w="11277931">
                <a:moveTo>
                  <a:pt x="0" y="0"/>
                </a:moveTo>
                <a:lnTo>
                  <a:pt x="11277931" y="0"/>
                </a:lnTo>
                <a:lnTo>
                  <a:pt x="11277931" y="8222637"/>
                </a:lnTo>
                <a:lnTo>
                  <a:pt x="0" y="822263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07523" y="2727781"/>
            <a:ext cx="17388294" cy="6781435"/>
          </a:xfrm>
          <a:custGeom>
            <a:avLst/>
            <a:gdLst/>
            <a:ahLst/>
            <a:cxnLst/>
            <a:rect r="r" b="b" t="t" l="l"/>
            <a:pathLst>
              <a:path h="6781435" w="17388294">
                <a:moveTo>
                  <a:pt x="0" y="0"/>
                </a:moveTo>
                <a:lnTo>
                  <a:pt x="17388293" y="0"/>
                </a:lnTo>
                <a:lnTo>
                  <a:pt x="17388293" y="6781435"/>
                </a:lnTo>
                <a:lnTo>
                  <a:pt x="0" y="678143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407523" y="381000"/>
            <a:ext cx="18229151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0" indent="0" lvl="0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UI Screenshots: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6091297" y="4495800"/>
            <a:ext cx="6105406" cy="12954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200"/>
              </a:lnSpc>
              <a:spcBef>
                <a:spcPct val="0"/>
              </a:spcBef>
            </a:pPr>
            <a:r>
              <a:rPr lang="en-US" b="true" sz="8500">
                <a:solidFill>
                  <a:srgbClr val="000000"/>
                </a:solidFill>
                <a:latin typeface="IBM Plex Sans Bold"/>
                <a:ea typeface="IBM Plex Sans Bold"/>
                <a:cs typeface="IBM Plex Sans Bold"/>
                <a:sym typeface="IBM Plex Sans Bold"/>
              </a:rPr>
              <a:t>THANK YOU</a:t>
            </a:r>
          </a:p>
        </p:txBody>
      </p:sp>
      <p:sp>
        <p:nvSpPr>
          <p:cNvPr name="Freeform 3" id="3"/>
          <p:cNvSpPr/>
          <p:nvPr/>
        </p:nvSpPr>
        <p:spPr>
          <a:xfrm flipH="true" flipV="false" rot="0">
            <a:off x="17259300" y="-1301211"/>
            <a:ext cx="24496959" cy="15099035"/>
          </a:xfrm>
          <a:custGeom>
            <a:avLst/>
            <a:gdLst/>
            <a:ahLst/>
            <a:cxnLst/>
            <a:rect r="r" b="b" t="t" l="l"/>
            <a:pathLst>
              <a:path h="15099035" w="24496959">
                <a:moveTo>
                  <a:pt x="24496959" y="0"/>
                </a:moveTo>
                <a:lnTo>
                  <a:pt x="0" y="0"/>
                </a:lnTo>
                <a:lnTo>
                  <a:pt x="0" y="15099035"/>
                </a:lnTo>
                <a:lnTo>
                  <a:pt x="24496959" y="15099035"/>
                </a:lnTo>
                <a:lnTo>
                  <a:pt x="2449695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true" flipV="false" rot="0">
            <a:off x="2895898" y="-204613"/>
            <a:ext cx="19455439" cy="11991625"/>
          </a:xfrm>
          <a:custGeom>
            <a:avLst/>
            <a:gdLst/>
            <a:ahLst/>
            <a:cxnLst/>
            <a:rect r="r" b="b" t="t" l="l"/>
            <a:pathLst>
              <a:path h="11991625" w="19455439">
                <a:moveTo>
                  <a:pt x="19455439" y="0"/>
                </a:moveTo>
                <a:lnTo>
                  <a:pt x="0" y="0"/>
                </a:lnTo>
                <a:lnTo>
                  <a:pt x="0" y="11991626"/>
                </a:lnTo>
                <a:lnTo>
                  <a:pt x="19455439" y="11991626"/>
                </a:lnTo>
                <a:lnTo>
                  <a:pt x="19455439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DAG1re7iVGo</dc:identifier>
  <dcterms:modified xsi:type="dcterms:W3CDTF">2011-08-01T06:04:30Z</dcterms:modified>
  <cp:revision>1</cp:revision>
  <dc:title>Strategy Deck Business Presentation in Purple White Modular Abstract Style</dc:title>
</cp:coreProperties>
</file>